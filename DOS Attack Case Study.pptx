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ya Tejaswi Majeti" userId="968a563c3bb722d5" providerId="LiveId" clId="{EDBBB996-6B2A-4E17-BDEB-888912350354}"/>
    <pc:docChg chg="modSld">
      <pc:chgData name="Bhavya Tejaswi Majeti" userId="968a563c3bb722d5" providerId="LiveId" clId="{EDBBB996-6B2A-4E17-BDEB-888912350354}" dt="2026-04-18T18:02:19.504" v="52" actId="20577"/>
      <pc:docMkLst>
        <pc:docMk/>
      </pc:docMkLst>
      <pc:sldChg chg="modSp mod">
        <pc:chgData name="Bhavya Tejaswi Majeti" userId="968a563c3bb722d5" providerId="LiveId" clId="{EDBBB996-6B2A-4E17-BDEB-888912350354}" dt="2026-04-18T18:01:34.258" v="1" actId="20577"/>
        <pc:sldMkLst>
          <pc:docMk/>
          <pc:sldMk cId="2407396561" sldId="259"/>
        </pc:sldMkLst>
        <pc:spChg chg="mod">
          <ac:chgData name="Bhavya Tejaswi Majeti" userId="968a563c3bb722d5" providerId="LiveId" clId="{EDBBB996-6B2A-4E17-BDEB-888912350354}" dt="2026-04-18T18:01:34.258" v="1" actId="20577"/>
          <ac:spMkLst>
            <pc:docMk/>
            <pc:sldMk cId="2407396561" sldId="259"/>
            <ac:spMk id="3" creationId="{4206182A-3A38-504F-5338-AA7BAA44994C}"/>
          </ac:spMkLst>
        </pc:spChg>
      </pc:sldChg>
      <pc:sldChg chg="modSp mod">
        <pc:chgData name="Bhavya Tejaswi Majeti" userId="968a563c3bb722d5" providerId="LiveId" clId="{EDBBB996-6B2A-4E17-BDEB-888912350354}" dt="2026-04-18T18:01:47.135" v="5" actId="20577"/>
        <pc:sldMkLst>
          <pc:docMk/>
          <pc:sldMk cId="97865310" sldId="260"/>
        </pc:sldMkLst>
        <pc:spChg chg="mod">
          <ac:chgData name="Bhavya Tejaswi Majeti" userId="968a563c3bb722d5" providerId="LiveId" clId="{EDBBB996-6B2A-4E17-BDEB-888912350354}" dt="2026-04-18T18:01:47.135" v="5" actId="20577"/>
          <ac:spMkLst>
            <pc:docMk/>
            <pc:sldMk cId="97865310" sldId="260"/>
            <ac:spMk id="3" creationId="{975A1F39-ADCD-7DBC-25EE-63FB26D468AF}"/>
          </ac:spMkLst>
        </pc:spChg>
      </pc:sldChg>
      <pc:sldChg chg="modSp mod">
        <pc:chgData name="Bhavya Tejaswi Majeti" userId="968a563c3bb722d5" providerId="LiveId" clId="{EDBBB996-6B2A-4E17-BDEB-888912350354}" dt="2026-04-18T18:02:12.794" v="50" actId="20577"/>
        <pc:sldMkLst>
          <pc:docMk/>
          <pc:sldMk cId="2133470403" sldId="261"/>
        </pc:sldMkLst>
        <pc:spChg chg="mod">
          <ac:chgData name="Bhavya Tejaswi Majeti" userId="968a563c3bb722d5" providerId="LiveId" clId="{EDBBB996-6B2A-4E17-BDEB-888912350354}" dt="2026-04-18T18:02:12.794" v="50" actId="20577"/>
          <ac:spMkLst>
            <pc:docMk/>
            <pc:sldMk cId="2133470403" sldId="261"/>
            <ac:spMk id="3" creationId="{6D24477F-D258-BDED-4364-D6A05AEC228D}"/>
          </ac:spMkLst>
        </pc:spChg>
      </pc:sldChg>
      <pc:sldChg chg="modSp mod">
        <pc:chgData name="Bhavya Tejaswi Majeti" userId="968a563c3bb722d5" providerId="LiveId" clId="{EDBBB996-6B2A-4E17-BDEB-888912350354}" dt="2026-04-18T18:02:19.504" v="52" actId="20577"/>
        <pc:sldMkLst>
          <pc:docMk/>
          <pc:sldMk cId="3224155063" sldId="264"/>
        </pc:sldMkLst>
        <pc:spChg chg="mod">
          <ac:chgData name="Bhavya Tejaswi Majeti" userId="968a563c3bb722d5" providerId="LiveId" clId="{EDBBB996-6B2A-4E17-BDEB-888912350354}" dt="2026-04-18T18:02:19.504" v="52" actId="20577"/>
          <ac:spMkLst>
            <pc:docMk/>
            <pc:sldMk cId="3224155063" sldId="264"/>
            <ac:spMk id="3" creationId="{A70B7305-3B73-F0E7-3B93-32510044E4A2}"/>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7581FEA1-0403-43DF-B052-A039C14719A5}" type="datetimeFigureOut">
              <a:rPr lang="en-IN" smtClean="0"/>
              <a:t>18-04-2026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DA05A64-5DDF-4E96-9D6D-0EC44BBA7CC0}" type="slidenum">
              <a:rPr lang="en-IN" smtClean="0"/>
              <a:t>‹#›</a:t>
            </a:fld>
            <a:endParaRPr lang="en-IN"/>
          </a:p>
        </p:txBody>
      </p:sp>
    </p:spTree>
    <p:extLst>
      <p:ext uri="{BB962C8B-B14F-4D97-AF65-F5344CB8AC3E}">
        <p14:creationId xmlns:p14="http://schemas.microsoft.com/office/powerpoint/2010/main" val="369155681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81FEA1-0403-43DF-B052-A039C14719A5}" type="datetimeFigureOut">
              <a:rPr lang="en-IN" smtClean="0"/>
              <a:t>18-04-2026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3344878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7581FEA1-0403-43DF-B052-A039C14719A5}" type="datetimeFigureOut">
              <a:rPr lang="en-IN" smtClean="0"/>
              <a:t>18-04-2026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40793423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81FEA1-0403-43DF-B052-A039C14719A5}" type="datetimeFigureOut">
              <a:rPr lang="en-IN" smtClean="0"/>
              <a:t>18-04-2026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729088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81FEA1-0403-43DF-B052-A039C14719A5}" type="datetimeFigureOut">
              <a:rPr lang="en-IN" smtClean="0"/>
              <a:t>18-04-2026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3836963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81FEA1-0403-43DF-B052-A039C14719A5}" type="datetimeFigureOut">
              <a:rPr lang="en-IN" smtClean="0"/>
              <a:t>18-04-2026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1244206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81FEA1-0403-43DF-B052-A039C14719A5}" type="datetimeFigureOut">
              <a:rPr lang="en-IN" smtClean="0"/>
              <a:t>18-04-2026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158765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581FEA1-0403-43DF-B052-A039C14719A5}" type="datetimeFigureOut">
              <a:rPr lang="en-IN" smtClean="0"/>
              <a:t>18-04-2026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DA05A64-5DDF-4E96-9D6D-0EC44BBA7CC0}"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4900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7581FEA1-0403-43DF-B052-A039C14719A5}" type="datetimeFigureOut">
              <a:rPr lang="en-IN" smtClean="0"/>
              <a:t>18-04-2026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DA05A64-5DDF-4E96-9D6D-0EC44BBA7CC0}"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07392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81FEA1-0403-43DF-B052-A039C14719A5}"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859859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81FEA1-0403-43DF-B052-A039C14719A5}"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A05A64-5DDF-4E96-9D6D-0EC44BBA7CC0}" type="slidenum">
              <a:rPr lang="en-IN" smtClean="0"/>
              <a:t>‹#›</a:t>
            </a:fld>
            <a:endParaRPr lang="en-IN"/>
          </a:p>
        </p:txBody>
      </p:sp>
    </p:spTree>
    <p:extLst>
      <p:ext uri="{BB962C8B-B14F-4D97-AF65-F5344CB8AC3E}">
        <p14:creationId xmlns:p14="http://schemas.microsoft.com/office/powerpoint/2010/main" val="26252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7581FEA1-0403-43DF-B052-A039C14719A5}" type="datetimeFigureOut">
              <a:rPr lang="en-IN" smtClean="0"/>
              <a:t>18-04-2026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DA05A64-5DDF-4E96-9D6D-0EC44BBA7CC0}" type="slidenum">
              <a:rPr lang="en-IN" smtClean="0"/>
              <a:t>‹#›</a:t>
            </a:fld>
            <a:endParaRPr lang="en-IN"/>
          </a:p>
        </p:txBody>
      </p:sp>
    </p:spTree>
    <p:extLst>
      <p:ext uri="{BB962C8B-B14F-4D97-AF65-F5344CB8AC3E}">
        <p14:creationId xmlns:p14="http://schemas.microsoft.com/office/powerpoint/2010/main" val="1980432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28565-B95E-AF34-3038-9E14B7A9BBE0}"/>
              </a:ext>
            </a:extLst>
          </p:cNvPr>
          <p:cNvSpPr>
            <a:spLocks noGrp="1"/>
          </p:cNvSpPr>
          <p:nvPr>
            <p:ph type="ctrTitle"/>
          </p:nvPr>
        </p:nvSpPr>
        <p:spPr>
          <a:xfrm>
            <a:off x="1868128" y="2939846"/>
            <a:ext cx="8554065" cy="1386348"/>
          </a:xfrm>
        </p:spPr>
        <p:txBody>
          <a:bodyPr>
            <a:normAutofit fontScale="90000"/>
          </a:bodyPr>
          <a:lstStyle/>
          <a:p>
            <a:r>
              <a:rPr lang="en-IN" sz="6700" dirty="0">
                <a:latin typeface="Times New Roman" panose="02020603050405020304" pitchFamily="18" charset="0"/>
                <a:cs typeface="Times New Roman" panose="02020603050405020304" pitchFamily="18" charset="0"/>
              </a:rPr>
              <a:t>DOS Attack Case Study</a:t>
            </a:r>
            <a:br>
              <a:rPr lang="en-IN" dirty="0"/>
            </a:br>
            <a:endParaRPr lang="en-IN" dirty="0"/>
          </a:p>
        </p:txBody>
      </p:sp>
      <p:sp>
        <p:nvSpPr>
          <p:cNvPr id="3" name="Subtitle 2">
            <a:extLst>
              <a:ext uri="{FF2B5EF4-FFF2-40B4-BE49-F238E27FC236}">
                <a16:creationId xmlns:a16="http://schemas.microsoft.com/office/drawing/2014/main" id="{2EB01BF2-2C79-76BC-F5FD-010C9863C1A6}"/>
              </a:ext>
            </a:extLst>
          </p:cNvPr>
          <p:cNvSpPr>
            <a:spLocks noGrp="1"/>
          </p:cNvSpPr>
          <p:nvPr>
            <p:ph type="subTitle" idx="1"/>
          </p:nvPr>
        </p:nvSpPr>
        <p:spPr>
          <a:xfrm>
            <a:off x="9075174" y="4798140"/>
            <a:ext cx="1592826" cy="412957"/>
          </a:xfrm>
        </p:spPr>
        <p:txBody>
          <a:bodyPr>
            <a:normAutofit/>
          </a:bodyPr>
          <a:lstStyle/>
          <a:p>
            <a:r>
              <a:rPr lang="en-IN" dirty="0"/>
              <a:t>By Bhavya</a:t>
            </a:r>
          </a:p>
          <a:p>
            <a:endParaRPr lang="en-IN" dirty="0"/>
          </a:p>
        </p:txBody>
      </p:sp>
    </p:spTree>
    <p:extLst>
      <p:ext uri="{BB962C8B-B14F-4D97-AF65-F5344CB8AC3E}">
        <p14:creationId xmlns:p14="http://schemas.microsoft.com/office/powerpoint/2010/main" val="1778663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B95F9-F3FC-7F73-B341-C6CBDC37A564}"/>
              </a:ext>
            </a:extLst>
          </p:cNvPr>
          <p:cNvSpPr>
            <a:spLocks noGrp="1"/>
          </p:cNvSpPr>
          <p:nvPr>
            <p:ph idx="1"/>
          </p:nvPr>
        </p:nvSpPr>
        <p:spPr>
          <a:xfrm>
            <a:off x="373627" y="393290"/>
            <a:ext cx="11218606" cy="6007510"/>
          </a:xfrm>
        </p:spPr>
        <p:txBody>
          <a:bodyPr>
            <a:normAutofit/>
          </a:bodyPr>
          <a:lstStyle/>
          <a:p>
            <a:pPr marL="0" indent="0">
              <a:buNone/>
            </a:pPr>
            <a:r>
              <a:rPr lang="en-IN" sz="3200" b="1" dirty="0">
                <a:latin typeface="Times New Roman" panose="02020603050405020304" pitchFamily="18" charset="0"/>
                <a:cs typeface="Times New Roman" panose="02020603050405020304" pitchFamily="18" charset="0"/>
              </a:rPr>
              <a:t>ABSTRACT</a:t>
            </a:r>
          </a:p>
          <a:p>
            <a:r>
              <a:rPr lang="en-US" sz="2400" dirty="0">
                <a:latin typeface="Times New Roman" panose="02020603050405020304" pitchFamily="18" charset="0"/>
                <a:cs typeface="Times New Roman" panose="02020603050405020304" pitchFamily="18" charset="0"/>
              </a:rPr>
              <a:t>The current project entails an extensive examination of various forms of DoS attacks such as ICMP flooding, TCP SYN flooding, and HTTP flooding within a virtual environment employing Kali Linux and Ubuntu Server. </a:t>
            </a:r>
          </a:p>
          <a:p>
            <a:r>
              <a:rPr lang="en-US" sz="2400" dirty="0">
                <a:latin typeface="Times New Roman" panose="02020603050405020304" pitchFamily="18" charset="0"/>
                <a:cs typeface="Times New Roman" panose="02020603050405020304" pitchFamily="18" charset="0"/>
              </a:rPr>
              <a:t>The goal of this study is to learn how DoS attacks affect the target system, what their effects are, and how they can be detected by analyzing different DoS attacks on network, transport, and application layers.</a:t>
            </a:r>
          </a:p>
          <a:p>
            <a:r>
              <a:rPr lang="en-US" sz="2400" dirty="0">
                <a:latin typeface="Times New Roman" panose="02020603050405020304" pitchFamily="18" charset="0"/>
                <a:cs typeface="Times New Roman" panose="02020603050405020304" pitchFamily="18" charset="0"/>
              </a:rPr>
              <a:t>For the purpose of this study, the attacks will be simulated using hping3 and Slow Loris, among others. </a:t>
            </a:r>
          </a:p>
          <a:p>
            <a:r>
              <a:rPr lang="en-US" sz="2400" dirty="0">
                <a:latin typeface="Times New Roman" panose="02020603050405020304" pitchFamily="18" charset="0"/>
                <a:cs typeface="Times New Roman" panose="02020603050405020304" pitchFamily="18" charset="0"/>
              </a:rPr>
              <a:t>The system and network behaviors will be monitored via tcpdump and other utilities.</a:t>
            </a:r>
          </a:p>
          <a:p>
            <a:r>
              <a:rPr lang="en-US" sz="2400" dirty="0">
                <a:latin typeface="Times New Roman" panose="02020603050405020304" pitchFamily="18" charset="0"/>
                <a:cs typeface="Times New Roman" panose="02020603050405020304" pitchFamily="18" charset="0"/>
              </a:rPr>
              <a:t>Moreover, defensive methods such as iptables firewall configuration, rate limiting, SYN cookies, and connection control were employed to counter the attacks. The results showed a marked decrease in malicious packets, higher CPU efficiency, and greater server stability after security controls were applied.</a:t>
            </a:r>
          </a:p>
        </p:txBody>
      </p:sp>
    </p:spTree>
    <p:extLst>
      <p:ext uri="{BB962C8B-B14F-4D97-AF65-F5344CB8AC3E}">
        <p14:creationId xmlns:p14="http://schemas.microsoft.com/office/powerpoint/2010/main" val="2786248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599F6F-CFBB-C683-F302-A79AFE6E1D63}"/>
              </a:ext>
            </a:extLst>
          </p:cNvPr>
          <p:cNvSpPr>
            <a:spLocks noGrp="1"/>
          </p:cNvSpPr>
          <p:nvPr>
            <p:ph idx="1"/>
          </p:nvPr>
        </p:nvSpPr>
        <p:spPr>
          <a:xfrm>
            <a:off x="589935" y="245806"/>
            <a:ext cx="10726994" cy="6233651"/>
          </a:xfrm>
        </p:spPr>
        <p:txBody>
          <a:bodyPr>
            <a:normAutofit/>
          </a:bodyPr>
          <a:lstStyle/>
          <a:p>
            <a:pPr marL="0" indent="0">
              <a:buNone/>
            </a:pPr>
            <a:r>
              <a:rPr lang="en-IN" sz="3200" b="1" dirty="0">
                <a:latin typeface="Times New Roman" panose="02020603050405020304" pitchFamily="18" charset="0"/>
                <a:cs typeface="Times New Roman" panose="02020603050405020304" pitchFamily="18" charset="0"/>
              </a:rPr>
              <a:t>PROBLEM STATEMENT</a:t>
            </a:r>
          </a:p>
          <a:p>
            <a:pPr algn="just"/>
            <a:r>
              <a:rPr lang="en-US" sz="2400" dirty="0">
                <a:latin typeface="Times New Roman" panose="02020603050405020304" pitchFamily="18" charset="0"/>
                <a:cs typeface="Times New Roman" panose="02020603050405020304" pitchFamily="18" charset="0"/>
              </a:rPr>
              <a:t>Currently, modern web applications and network services are more susceptible to DoS attacks due to the intention of the attackers to hinder access to the service by flooding the targeted resources with excessive traffic. </a:t>
            </a:r>
          </a:p>
          <a:p>
            <a:pPr algn="just"/>
            <a:r>
              <a:rPr lang="en-US" sz="2400" dirty="0">
                <a:latin typeface="Times New Roman" panose="02020603050405020304" pitchFamily="18" charset="0"/>
                <a:cs typeface="Times New Roman" panose="02020603050405020304" pitchFamily="18" charset="0"/>
              </a:rPr>
              <a:t>Volumetric DoS attacks such as ICMP flood, protocol-based DoS attacks like TCP SYN flood, and application-level DoS attacks such as HTTP floods have varied properties that affect the target computer in unique ways.</a:t>
            </a:r>
          </a:p>
          <a:p>
            <a:pPr algn="just"/>
            <a:r>
              <a:rPr lang="en-US" sz="2400" dirty="0">
                <a:latin typeface="Times New Roman" panose="02020603050405020304" pitchFamily="18" charset="0"/>
                <a:cs typeface="Times New Roman" panose="02020603050405020304" pitchFamily="18" charset="0"/>
              </a:rPr>
              <a:t>While many DoS attacks occur regularly and significantly, the detection and prevention of these attacks continue to present a significant challenge in determining whether they are actual attacks and not just legitimate traffic. </a:t>
            </a:r>
          </a:p>
          <a:p>
            <a:pPr algn="just"/>
            <a:r>
              <a:rPr lang="en-US" sz="2400" dirty="0">
                <a:latin typeface="Times New Roman" panose="02020603050405020304" pitchFamily="18" charset="0"/>
                <a:cs typeface="Times New Roman" panose="02020603050405020304" pitchFamily="18" charset="0"/>
              </a:rPr>
              <a:t>Most businesses do not know how to react to DoS attacks and understand their effects on the system.</a:t>
            </a:r>
          </a:p>
          <a:p>
            <a:pPr algn="just"/>
            <a:r>
              <a:rPr lang="en-US" sz="2400" dirty="0">
                <a:latin typeface="Times New Roman" panose="02020603050405020304" pitchFamily="18" charset="0"/>
                <a:cs typeface="Times New Roman" panose="02020603050405020304" pitchFamily="18" charset="0"/>
              </a:rPr>
              <a:t>Hence, there is a need for the simulation of multiple DoS attacks to analyze the various aspects of each attack vector.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51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06182A-3A38-504F-5338-AA7BAA44994C}"/>
              </a:ext>
            </a:extLst>
          </p:cNvPr>
          <p:cNvSpPr>
            <a:spLocks noGrp="1"/>
          </p:cNvSpPr>
          <p:nvPr>
            <p:ph idx="1"/>
          </p:nvPr>
        </p:nvSpPr>
        <p:spPr>
          <a:xfrm>
            <a:off x="334297" y="285135"/>
            <a:ext cx="11149779" cy="6390967"/>
          </a:xfrm>
        </p:spPr>
        <p:txBody>
          <a:bodyPr>
            <a:normAutofit fontScale="92500"/>
          </a:bodyPr>
          <a:lstStyle/>
          <a:p>
            <a:pPr marL="0" indent="0">
              <a:buNone/>
            </a:pPr>
            <a:r>
              <a:rPr lang="en-IN" sz="3500" b="1" dirty="0">
                <a:latin typeface="Times New Roman" panose="02020603050405020304" pitchFamily="18" charset="0"/>
                <a:cs typeface="Times New Roman" panose="02020603050405020304" pitchFamily="18" charset="0"/>
              </a:rPr>
              <a:t>THE SOLUTION</a:t>
            </a:r>
            <a:endParaRPr lang="en-IN" sz="5100" b="1"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In order to analyze and implement the countermeasures against Denial of Service (DoS) attacks, the solution was created through the use of an experimental environment which uses Kali Linux as the attacking computer and Ubuntu Server as the target.</a:t>
            </a:r>
          </a:p>
          <a:p>
            <a:pPr algn="just"/>
            <a:r>
              <a:rPr lang="en-US" sz="2600" dirty="0">
                <a:latin typeface="Times New Roman" panose="02020603050405020304" pitchFamily="18" charset="0"/>
                <a:cs typeface="Times New Roman" panose="02020603050405020304" pitchFamily="18" charset="0"/>
              </a:rPr>
              <a:t>There are several attacks that can be launched by using Kali Linux in an attempt to disrupt the functionality of Ubuntu Server. </a:t>
            </a:r>
          </a:p>
          <a:p>
            <a:pPr algn="just"/>
            <a:r>
              <a:rPr lang="en-US" sz="2600" dirty="0">
                <a:latin typeface="Times New Roman" panose="02020603050405020304" pitchFamily="18" charset="0"/>
                <a:cs typeface="Times New Roman" panose="02020603050405020304" pitchFamily="18" charset="0"/>
              </a:rPr>
              <a:t>These attacks include ICMP flooding (volume-based), TCP SYN flooding (protocol-based), and HTTP flooding using the </a:t>
            </a:r>
            <a:r>
              <a:rPr lang="en-US" sz="2600" dirty="0" err="1">
                <a:latin typeface="Times New Roman" panose="02020603050405020304" pitchFamily="18" charset="0"/>
                <a:cs typeface="Times New Roman" panose="02020603050405020304" pitchFamily="18" charset="0"/>
              </a:rPr>
              <a:t>Slowloris</a:t>
            </a:r>
            <a:r>
              <a:rPr lang="en-US" sz="2600" dirty="0">
                <a:latin typeface="Times New Roman" panose="02020603050405020304" pitchFamily="18" charset="0"/>
                <a:cs typeface="Times New Roman" panose="02020603050405020304" pitchFamily="18" charset="0"/>
              </a:rPr>
              <a:t> attack (application layer). </a:t>
            </a:r>
          </a:p>
          <a:p>
            <a:pPr algn="just"/>
            <a:r>
              <a:rPr lang="en-US" sz="2600" dirty="0">
                <a:latin typeface="Times New Roman" panose="02020603050405020304" pitchFamily="18" charset="0"/>
                <a:cs typeface="Times New Roman" panose="02020603050405020304" pitchFamily="18" charset="0"/>
              </a:rPr>
              <a:t>These attacks were performed through the use of proper software like hping3 and </a:t>
            </a:r>
            <a:r>
              <a:rPr lang="en-US" sz="2600" dirty="0" err="1">
                <a:latin typeface="Times New Roman" panose="02020603050405020304" pitchFamily="18" charset="0"/>
                <a:cs typeface="Times New Roman" panose="02020603050405020304" pitchFamily="18" charset="0"/>
              </a:rPr>
              <a:t>Slowloris</a:t>
            </a:r>
            <a:r>
              <a:rPr lang="en-US" sz="2600" dirty="0">
                <a:latin typeface="Times New Roman" panose="02020603050405020304" pitchFamily="18" charset="0"/>
                <a:cs typeface="Times New Roman" panose="02020603050405020304" pitchFamily="18" charset="0"/>
              </a:rPr>
              <a:t>. </a:t>
            </a:r>
          </a:p>
          <a:p>
            <a:pPr algn="just"/>
            <a:r>
              <a:rPr lang="en-US" sz="2600" dirty="0">
                <a:latin typeface="Times New Roman" panose="02020603050405020304" pitchFamily="18" charset="0"/>
                <a:cs typeface="Times New Roman" panose="02020603050405020304" pitchFamily="18" charset="0"/>
              </a:rPr>
              <a:t>The performance of the systems as well as their network activities were also constantly monitored through tcpdump and monitoring software.</a:t>
            </a:r>
          </a:p>
          <a:p>
            <a:pPr algn="just"/>
            <a:r>
              <a:rPr lang="en-US" sz="2600" dirty="0">
                <a:latin typeface="Times New Roman" panose="02020603050405020304" pitchFamily="18" charset="0"/>
                <a:cs typeface="Times New Roman" panose="02020603050405020304" pitchFamily="18" charset="0"/>
              </a:rPr>
              <a:t>Some of the most important signatures include heavy ICMP packet generation, incomplete TCP handshakes, and numerous HTTP connections.</a:t>
            </a:r>
          </a:p>
        </p:txBody>
      </p:sp>
    </p:spTree>
    <p:extLst>
      <p:ext uri="{BB962C8B-B14F-4D97-AF65-F5344CB8AC3E}">
        <p14:creationId xmlns:p14="http://schemas.microsoft.com/office/powerpoint/2010/main" val="2407396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5A1F39-ADCD-7DBC-25EE-63FB26D468AF}"/>
              </a:ext>
            </a:extLst>
          </p:cNvPr>
          <p:cNvSpPr>
            <a:spLocks noGrp="1"/>
          </p:cNvSpPr>
          <p:nvPr>
            <p:ph idx="1"/>
          </p:nvPr>
        </p:nvSpPr>
        <p:spPr>
          <a:xfrm>
            <a:off x="491613" y="412955"/>
            <a:ext cx="11336593" cy="6164826"/>
          </a:xfrm>
        </p:spPr>
        <p:txBody>
          <a:bodyPr>
            <a:normAutofit/>
          </a:bodyPr>
          <a:lstStyle/>
          <a:p>
            <a:pPr marL="0" indent="0">
              <a:buNone/>
            </a:pPr>
            <a:r>
              <a:rPr lang="en-IN" sz="3200" b="1" dirty="0">
                <a:latin typeface="Times New Roman" panose="02020603050405020304" pitchFamily="18" charset="0"/>
                <a:cs typeface="Times New Roman" panose="02020603050405020304" pitchFamily="18" charset="0"/>
              </a:rPr>
              <a:t>TOOLS AND TECHNOLOGIES USED</a:t>
            </a:r>
          </a:p>
          <a:p>
            <a:pPr algn="just"/>
            <a:r>
              <a:rPr lang="en-US" sz="2400" b="1" dirty="0">
                <a:latin typeface="Times New Roman" panose="02020603050405020304" pitchFamily="18" charset="0"/>
                <a:cs typeface="Times New Roman" panose="02020603050405020304" pitchFamily="18" charset="0"/>
              </a:rPr>
              <a:t>Virtualization Platform</a:t>
            </a:r>
            <a:r>
              <a:rPr lang="en-US" sz="2400" dirty="0">
                <a:latin typeface="Times New Roman" panose="02020603050405020304" pitchFamily="18" charset="0"/>
                <a:cs typeface="Times New Roman" panose="02020603050405020304" pitchFamily="18" charset="0"/>
              </a:rPr>
              <a:t>: VMware Workstation </a:t>
            </a:r>
          </a:p>
          <a:p>
            <a:pPr algn="just"/>
            <a:r>
              <a:rPr lang="en-US" sz="2400" b="1" dirty="0">
                <a:latin typeface="Times New Roman" panose="02020603050405020304" pitchFamily="18" charset="0"/>
                <a:cs typeface="Times New Roman" panose="02020603050405020304" pitchFamily="18" charset="0"/>
              </a:rPr>
              <a:t>Operating Systems</a:t>
            </a:r>
            <a:r>
              <a:rPr lang="en-US" sz="2400" dirty="0">
                <a:latin typeface="Times New Roman" panose="02020603050405020304" pitchFamily="18" charset="0"/>
                <a:cs typeface="Times New Roman" panose="02020603050405020304" pitchFamily="18" charset="0"/>
              </a:rPr>
              <a:t>: Kali Linux was chosen as an attacker OS because of its ability to conduct penetration testing, and Ubuntu Server was employed as the target OS that hosted the web server.</a:t>
            </a:r>
          </a:p>
          <a:p>
            <a:pPr algn="just"/>
            <a:r>
              <a:rPr lang="en-US" sz="2400" b="1" dirty="0">
                <a:latin typeface="Times New Roman" panose="02020603050405020304" pitchFamily="18" charset="0"/>
                <a:cs typeface="Times New Roman" panose="02020603050405020304" pitchFamily="18" charset="0"/>
              </a:rPr>
              <a:t>Attacks</a:t>
            </a:r>
            <a:r>
              <a:rPr lang="en-US" sz="2400" dirty="0">
                <a:latin typeface="Times New Roman" panose="02020603050405020304" pitchFamily="18" charset="0"/>
                <a:cs typeface="Times New Roman" panose="02020603050405020304" pitchFamily="18" charset="0"/>
              </a:rPr>
              <a:t>: hping3 tool was used for conducting ICMP and TCP SYN flood attacks, and Slow Loris was used for creating HTTP flood attacks in the application layer.</a:t>
            </a:r>
          </a:p>
          <a:p>
            <a:pPr algn="just"/>
            <a:r>
              <a:rPr lang="en-US" sz="2400" b="1" dirty="0">
                <a:latin typeface="Times New Roman" panose="02020603050405020304" pitchFamily="18" charset="0"/>
                <a:cs typeface="Times New Roman" panose="02020603050405020304" pitchFamily="18" charset="0"/>
              </a:rPr>
              <a:t>Analysis Tools</a:t>
            </a:r>
            <a:r>
              <a:rPr lang="en-US" sz="2400" dirty="0">
                <a:latin typeface="Times New Roman" panose="02020603050405020304" pitchFamily="18" charset="0"/>
                <a:cs typeface="Times New Roman" panose="02020603050405020304" pitchFamily="18" charset="0"/>
              </a:rPr>
              <a:t>: tcpdump was employed for capturing and analyzing traffic, and top/</a:t>
            </a:r>
            <a:r>
              <a:rPr lang="en-US" sz="2400" dirty="0" err="1">
                <a:latin typeface="Times New Roman" panose="02020603050405020304" pitchFamily="18" charset="0"/>
                <a:cs typeface="Times New Roman" panose="02020603050405020304" pitchFamily="18" charset="0"/>
              </a:rPr>
              <a:t>htop</a:t>
            </a:r>
            <a:r>
              <a:rPr lang="en-US" sz="2400" dirty="0">
                <a:latin typeface="Times New Roman" panose="02020603050405020304" pitchFamily="18" charset="0"/>
                <a:cs typeface="Times New Roman" panose="02020603050405020304" pitchFamily="18" charset="0"/>
              </a:rPr>
              <a:t> and ss tools were used for observing CPU usage and open connections.</a:t>
            </a:r>
          </a:p>
          <a:p>
            <a:pPr algn="just"/>
            <a:r>
              <a:rPr lang="en-US" sz="2400" b="1" dirty="0">
                <a:latin typeface="Times New Roman" panose="02020603050405020304" pitchFamily="18" charset="0"/>
                <a:cs typeface="Times New Roman" panose="02020603050405020304" pitchFamily="18" charset="0"/>
              </a:rPr>
              <a:t>Web Server</a:t>
            </a:r>
            <a:r>
              <a:rPr lang="en-US" sz="2400" dirty="0">
                <a:latin typeface="Times New Roman" panose="02020603050405020304" pitchFamily="18" charset="0"/>
                <a:cs typeface="Times New Roman" panose="02020603050405020304" pitchFamily="18" charset="0"/>
              </a:rPr>
              <a:t>: Apache2 was installed on Ubuntu Server and used as a web service target.</a:t>
            </a:r>
          </a:p>
          <a:p>
            <a:pPr algn="just"/>
            <a:r>
              <a:rPr lang="en-US" sz="2400" b="1" dirty="0">
                <a:latin typeface="Times New Roman" panose="02020603050405020304" pitchFamily="18" charset="0"/>
                <a:cs typeface="Times New Roman" panose="02020603050405020304" pitchFamily="18" charset="0"/>
              </a:rPr>
              <a:t>Countermeasures</a:t>
            </a:r>
            <a:r>
              <a:rPr lang="en-US" sz="2400" dirty="0">
                <a:latin typeface="Times New Roman" panose="02020603050405020304" pitchFamily="18" charset="0"/>
                <a:cs typeface="Times New Roman" panose="02020603050405020304" pitchFamily="18" charset="0"/>
              </a:rPr>
              <a:t>: Firewalling with iptables, rate limiting, SYN cookies, and connection limiting were considered in order to protect against DoS attacks.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65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24477F-D258-BDED-4364-D6A05AEC228D}"/>
              </a:ext>
            </a:extLst>
          </p:cNvPr>
          <p:cNvSpPr>
            <a:spLocks noGrp="1"/>
          </p:cNvSpPr>
          <p:nvPr>
            <p:ph idx="1"/>
          </p:nvPr>
        </p:nvSpPr>
        <p:spPr>
          <a:xfrm>
            <a:off x="442452" y="432619"/>
            <a:ext cx="10911348" cy="5744344"/>
          </a:xfrm>
        </p:spPr>
        <p:txBody>
          <a:bodyPr/>
          <a:lstStyle/>
          <a:p>
            <a:r>
              <a:rPr lang="en-IN" sz="3200" b="1" dirty="0">
                <a:latin typeface="Times New Roman" panose="02020603050405020304" pitchFamily="18" charset="0"/>
                <a:cs typeface="Times New Roman" panose="02020603050405020304" pitchFamily="18" charset="0"/>
              </a:rPr>
              <a:t>PROJECT IMPLEMENTATION</a:t>
            </a:r>
          </a:p>
          <a:p>
            <a:pPr marL="0" indent="0">
              <a:buNone/>
            </a:pPr>
            <a:endParaRPr lang="en-IN" dirty="0"/>
          </a:p>
        </p:txBody>
      </p:sp>
      <p:pic>
        <p:nvPicPr>
          <p:cNvPr id="5" name="Picture 4">
            <a:extLst>
              <a:ext uri="{FF2B5EF4-FFF2-40B4-BE49-F238E27FC236}">
                <a16:creationId xmlns:a16="http://schemas.microsoft.com/office/drawing/2014/main" id="{0AC5A3F4-F89B-E3F4-C00E-5A2B2B964FAD}"/>
              </a:ext>
            </a:extLst>
          </p:cNvPr>
          <p:cNvPicPr>
            <a:picLocks noChangeAspect="1"/>
          </p:cNvPicPr>
          <p:nvPr/>
        </p:nvPicPr>
        <p:blipFill>
          <a:blip r:embed="rId2"/>
          <a:stretch>
            <a:fillRect/>
          </a:stretch>
        </p:blipFill>
        <p:spPr>
          <a:xfrm>
            <a:off x="1691149" y="1189033"/>
            <a:ext cx="8984840" cy="4900822"/>
          </a:xfrm>
          <a:prstGeom prst="rect">
            <a:avLst/>
          </a:prstGeom>
        </p:spPr>
      </p:pic>
    </p:spTree>
    <p:extLst>
      <p:ext uri="{BB962C8B-B14F-4D97-AF65-F5344CB8AC3E}">
        <p14:creationId xmlns:p14="http://schemas.microsoft.com/office/powerpoint/2010/main" val="2133470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DB68BC4-F328-35AB-49B1-20B1053E12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3066" y="488156"/>
            <a:ext cx="9621111" cy="5881688"/>
          </a:xfrm>
          <a:prstGeom prst="rect">
            <a:avLst/>
          </a:prstGeom>
        </p:spPr>
      </p:pic>
    </p:spTree>
    <p:extLst>
      <p:ext uri="{BB962C8B-B14F-4D97-AF65-F5344CB8AC3E}">
        <p14:creationId xmlns:p14="http://schemas.microsoft.com/office/powerpoint/2010/main" val="1085911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91C8287-0D4C-497B-6D45-285B06399DC5}"/>
              </a:ext>
            </a:extLst>
          </p:cNvPr>
          <p:cNvPicPr>
            <a:picLocks noGrp="1" noChangeAspect="1"/>
          </p:cNvPicPr>
          <p:nvPr>
            <p:ph idx="1"/>
          </p:nvPr>
        </p:nvPicPr>
        <p:blipFill>
          <a:blip r:embed="rId2"/>
          <a:stretch>
            <a:fillRect/>
          </a:stretch>
        </p:blipFill>
        <p:spPr>
          <a:xfrm>
            <a:off x="1203325" y="373063"/>
            <a:ext cx="9488488" cy="5803900"/>
          </a:xfrm>
          <a:prstGeom prst="rect">
            <a:avLst/>
          </a:prstGeom>
        </p:spPr>
      </p:pic>
    </p:spTree>
    <p:extLst>
      <p:ext uri="{BB962C8B-B14F-4D97-AF65-F5344CB8AC3E}">
        <p14:creationId xmlns:p14="http://schemas.microsoft.com/office/powerpoint/2010/main" val="3560045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0B7305-3B73-F0E7-3B93-32510044E4A2}"/>
              </a:ext>
            </a:extLst>
          </p:cNvPr>
          <p:cNvSpPr>
            <a:spLocks noGrp="1"/>
          </p:cNvSpPr>
          <p:nvPr>
            <p:ph idx="1"/>
          </p:nvPr>
        </p:nvSpPr>
        <p:spPr>
          <a:xfrm>
            <a:off x="570271" y="235974"/>
            <a:ext cx="10783529" cy="5940989"/>
          </a:xfrm>
        </p:spPr>
        <p:txBody>
          <a:bodyPr>
            <a:normAutofit/>
          </a:bodyPr>
          <a:lstStyle/>
          <a:p>
            <a:pPr marL="0" indent="0">
              <a:buNone/>
            </a:pPr>
            <a:r>
              <a:rPr lang="en-IN" sz="3200" b="1">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assignment proved to be highly successful in demonstrating how various forms of DoS attacks can be simulated, analyzed, and mitigated within the safe confines of a laboratory setting. </a:t>
            </a:r>
          </a:p>
          <a:p>
            <a:r>
              <a:rPr lang="en-US" sz="2400" dirty="0">
                <a:latin typeface="Times New Roman" panose="02020603050405020304" pitchFamily="18" charset="0"/>
                <a:cs typeface="Times New Roman" panose="02020603050405020304" pitchFamily="18" charset="0"/>
              </a:rPr>
              <a:t>The ability to execute ICMP flood attack, TCP SYN flood attack, and HTTP flood attack allowed us to understand how different forms of attacks affect the availability of bandwidth, number of connections, and resources on application layer.</a:t>
            </a:r>
          </a:p>
          <a:p>
            <a:r>
              <a:rPr lang="en-US" sz="2400" dirty="0">
                <a:latin typeface="Times New Roman" panose="02020603050405020304" pitchFamily="18" charset="0"/>
                <a:cs typeface="Times New Roman" panose="02020603050405020304" pitchFamily="18" charset="0"/>
              </a:rPr>
              <a:t>Traffic analysis performed with the help of tcpdump and other system monitoring utilities helped us in recognizing important aspects of attack including high packet rates, incomplete TCP handshake, and excessive number of concurrent connections.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1550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17</TotalTime>
  <Words>730</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Garamond</vt:lpstr>
      <vt:lpstr>Times New Roman</vt:lpstr>
      <vt:lpstr>Savon</vt:lpstr>
      <vt:lpstr>DOS Attack Case Study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Bhavya Tejaswi Majeti</dc:creator>
  <cp:lastModifiedBy>Bhavya Tejaswi Majeti</cp:lastModifiedBy>
  <cp:revision>1</cp:revision>
  <dcterms:created xsi:type="dcterms:W3CDTF">2026-04-18T17:44:29Z</dcterms:created>
  <dcterms:modified xsi:type="dcterms:W3CDTF">2026-04-18T18:02:20Z</dcterms:modified>
</cp:coreProperties>
</file>